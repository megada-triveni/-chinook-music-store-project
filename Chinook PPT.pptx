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mbria Bold" charset="1" panose="02040803050406030204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1943" y="-92709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2563A8">
                <a:alpha val="8627"/>
              </a:srgbClr>
            </a:solidFill>
            <a:ln w="25400" cap="sq">
              <a:solidFill>
                <a:srgbClr val="2563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32103" y="6388103"/>
            <a:ext cx="4048763" cy="4048763"/>
            <a:chOff x="0" y="0"/>
            <a:chExt cx="5398351" cy="53983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389" cy="5398389"/>
            </a:xfrm>
            <a:custGeom>
              <a:avLst/>
              <a:gdLst/>
              <a:ahLst/>
              <a:cxnLst/>
              <a:rect r="r" b="b" t="t" l="l"/>
              <a:pathLst>
                <a:path h="5398389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011680"/>
            <a:ext cx="14630400" cy="1463040"/>
            <a:chOff x="0" y="0"/>
            <a:chExt cx="19507200" cy="1950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5072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Chinook Music Store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356616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50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Data Analysis &amp; Business Insights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8230" y="4644390"/>
            <a:ext cx="6438900" cy="38100"/>
            <a:chOff x="0" y="0"/>
            <a:chExt cx="858520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85200" cy="50800"/>
            </a:xfrm>
            <a:custGeom>
              <a:avLst/>
              <a:gdLst/>
              <a:ahLst/>
              <a:cxnLst/>
              <a:rect r="r" b="b" t="t" l="l"/>
              <a:pathLst>
                <a:path h="50800" w="8585200">
                  <a:moveTo>
                    <a:pt x="0" y="0"/>
                  </a:moveTo>
                  <a:lnTo>
                    <a:pt x="8585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242971" r="0" b="-3242971"/>
              </a:stretch>
            </a:blipFill>
            <a:ln w="38100" cap="sq">
              <a:solidFill>
                <a:srgbClr val="3B82C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5029200"/>
            <a:ext cx="12801600" cy="640080"/>
            <a:chOff x="0" y="0"/>
            <a:chExt cx="170688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068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Submitted by: </a:t>
              </a:r>
              <a:r>
                <a:rPr lang="en-US" sz="2799" b="true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Triveni Megada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5760720"/>
            <a:ext cx="14630400" cy="441833"/>
            <a:chOff x="0" y="0"/>
            <a:chExt cx="19507200" cy="589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589111"/>
            </a:xfrm>
            <a:custGeom>
              <a:avLst/>
              <a:gdLst/>
              <a:ahLst/>
              <a:cxnLst/>
              <a:rect r="r" b="b" t="t" l="l"/>
              <a:pathLst>
                <a:path h="589111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119" r="0" b="-6072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50720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June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8047" y="2371087"/>
            <a:ext cx="8242297" cy="2024377"/>
            <a:chOff x="0" y="0"/>
            <a:chExt cx="10989729" cy="26991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8981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098981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88720" y="2560320"/>
            <a:ext cx="1005840" cy="1005840"/>
            <a:chOff x="0" y="0"/>
            <a:chExt cx="134112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6000" y="2560320"/>
            <a:ext cx="6583680" cy="640080"/>
            <a:chOff x="0" y="0"/>
            <a:chExt cx="877824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About the Dataset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6000" y="3255264"/>
            <a:ext cx="6583680" cy="548640"/>
            <a:chOff x="0" y="0"/>
            <a:chExt cx="87782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Tables, schema, and data scope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047" y="4839967"/>
            <a:ext cx="8242297" cy="2024377"/>
            <a:chOff x="0" y="0"/>
            <a:chExt cx="10989729" cy="26991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8981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098981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5029200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0" y="5029200"/>
            <a:ext cx="6583680" cy="640080"/>
            <a:chOff x="0" y="0"/>
            <a:chExt cx="877824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Quality Check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86000" y="5724144"/>
            <a:ext cx="6583680" cy="548640"/>
            <a:chOff x="0" y="0"/>
            <a:chExt cx="87782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values and duplicates found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8047" y="7308847"/>
            <a:ext cx="8242297" cy="2024377"/>
            <a:chOff x="0" y="0"/>
            <a:chExt cx="10989729" cy="26991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8981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098981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" y="7498080"/>
            <a:ext cx="1005840" cy="1005840"/>
            <a:chOff x="0" y="0"/>
            <a:chExt cx="134112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86000" y="7498080"/>
            <a:ext cx="6583680" cy="640080"/>
            <a:chOff x="0" y="0"/>
            <a:chExt cx="877824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&amp; Revenue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86000" y="8193024"/>
            <a:ext cx="6583680" cy="548640"/>
            <a:chOff x="0" y="0"/>
            <a:chExt cx="87782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tracks, genres, artists in USA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86287" y="2371087"/>
            <a:ext cx="8242297" cy="2024377"/>
            <a:chOff x="0" y="0"/>
            <a:chExt cx="10989729" cy="26991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8981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098981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966960" y="2560320"/>
            <a:ext cx="1005840" cy="1005840"/>
            <a:chOff x="0" y="0"/>
            <a:chExt cx="134112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064240" y="2560320"/>
            <a:ext cx="6583680" cy="640080"/>
            <a:chOff x="0" y="0"/>
            <a:chExt cx="877824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Analysis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064240" y="3255264"/>
            <a:ext cx="6583680" cy="548640"/>
            <a:chOff x="0" y="0"/>
            <a:chExt cx="87782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Demographics, behavior, churn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86287" y="4839967"/>
            <a:ext cx="8242297" cy="2024377"/>
            <a:chOff x="0" y="0"/>
            <a:chExt cx="10989729" cy="26991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8981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098981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966960" y="5029200"/>
            <a:ext cx="1005840" cy="1005840"/>
            <a:chOff x="0" y="0"/>
            <a:chExt cx="134112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064240" y="5029200"/>
            <a:ext cx="6583680" cy="640080"/>
            <a:chOff x="0" y="0"/>
            <a:chExt cx="877824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 Intelligence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064240" y="5724144"/>
            <a:ext cx="6583680" cy="548640"/>
            <a:chOff x="0" y="0"/>
            <a:chExt cx="877824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Rankings and % contribution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86287" y="7308847"/>
            <a:ext cx="8242297" cy="2024377"/>
            <a:chOff x="0" y="0"/>
            <a:chExt cx="10989729" cy="269916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8981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098981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10793476" y="0"/>
                  </a:lnTo>
                  <a:cubicBezTo>
                    <a:pt x="10901934" y="0"/>
                    <a:pt x="10989818" y="87884"/>
                    <a:pt x="10989818" y="196342"/>
                  </a:cubicBezTo>
                  <a:lnTo>
                    <a:pt x="10989818" y="2502916"/>
                  </a:lnTo>
                  <a:cubicBezTo>
                    <a:pt x="10989818" y="2611374"/>
                    <a:pt x="10901934" y="2699258"/>
                    <a:pt x="1079347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966960" y="7498080"/>
            <a:ext cx="1005840" cy="1005840"/>
            <a:chOff x="0" y="0"/>
            <a:chExt cx="1341120" cy="134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3411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064240" y="7498080"/>
            <a:ext cx="6583680" cy="640080"/>
            <a:chOff x="0" y="0"/>
            <a:chExt cx="877824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87782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064240" y="8193024"/>
            <a:ext cx="6583680" cy="548640"/>
            <a:chOff x="0" y="0"/>
            <a:chExt cx="877824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8778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Chinook should do next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6909167" y="156842"/>
            <a:ext cx="3458319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Topics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About the Dataset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8047" y="2279647"/>
            <a:ext cx="3853177" cy="2755897"/>
            <a:chOff x="0" y="0"/>
            <a:chExt cx="5137569" cy="36745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615184"/>
            <a:ext cx="3840480" cy="1280160"/>
            <a:chOff x="0" y="0"/>
            <a:chExt cx="512064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3931920"/>
            <a:ext cx="3840480" cy="822960"/>
            <a:chOff x="0" y="0"/>
            <a:chExt cx="512064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 in Database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22847" y="2279647"/>
            <a:ext cx="3853177" cy="2755897"/>
            <a:chOff x="0" y="0"/>
            <a:chExt cx="5137569" cy="3674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029200" y="2615184"/>
            <a:ext cx="3840480" cy="1280160"/>
            <a:chOff x="0" y="0"/>
            <a:chExt cx="512064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59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29200" y="3931920"/>
            <a:ext cx="3840480" cy="822960"/>
            <a:chOff x="0" y="0"/>
            <a:chExt cx="512064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Customers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37647" y="2279647"/>
            <a:ext cx="3853177" cy="2755897"/>
            <a:chOff x="0" y="0"/>
            <a:chExt cx="5137569" cy="36745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0" y="2615184"/>
            <a:ext cx="3840480" cy="1280160"/>
            <a:chOff x="0" y="0"/>
            <a:chExt cx="5120640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614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3931920"/>
            <a:ext cx="3840480" cy="822960"/>
            <a:chOff x="0" y="0"/>
            <a:chExt cx="51206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Invoices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52447" y="2279647"/>
            <a:ext cx="3853177" cy="2755897"/>
            <a:chOff x="0" y="0"/>
            <a:chExt cx="5137569" cy="36745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258800" y="2615184"/>
            <a:ext cx="3840480" cy="1280160"/>
            <a:chOff x="0" y="0"/>
            <a:chExt cx="512064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3,503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58800" y="3931920"/>
            <a:ext cx="3840480" cy="822960"/>
            <a:chOff x="0" y="0"/>
            <a:chExt cx="512064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Tracks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8047" y="5388607"/>
            <a:ext cx="16471897" cy="4218937"/>
            <a:chOff x="0" y="0"/>
            <a:chExt cx="21962529" cy="56252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62619" cy="5625338"/>
            </a:xfrm>
            <a:custGeom>
              <a:avLst/>
              <a:gdLst/>
              <a:ahLst/>
              <a:cxnLst/>
              <a:rect r="r" b="b" t="t" l="l"/>
              <a:pathLst>
                <a:path h="5625338" w="21962619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21766912" y="0"/>
                  </a:lnTo>
                  <a:cubicBezTo>
                    <a:pt x="21874989" y="0"/>
                    <a:pt x="21962619" y="87630"/>
                    <a:pt x="21962619" y="195707"/>
                  </a:cubicBezTo>
                  <a:lnTo>
                    <a:pt x="21962619" y="5429631"/>
                  </a:lnTo>
                  <a:cubicBezTo>
                    <a:pt x="21962619" y="5537708"/>
                    <a:pt x="21874989" y="5625338"/>
                    <a:pt x="21766912" y="5625338"/>
                  </a:cubicBezTo>
                  <a:lnTo>
                    <a:pt x="195707" y="5625338"/>
                  </a:lnTo>
                  <a:cubicBezTo>
                    <a:pt x="87630" y="5625211"/>
                    <a:pt x="0" y="5537708"/>
                    <a:pt x="0" y="542963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63040" y="5577840"/>
            <a:ext cx="15544800" cy="640080"/>
            <a:chOff x="0" y="0"/>
            <a:chExt cx="2072640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07264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Tables &amp; Relationships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5920" y="6364224"/>
            <a:ext cx="548640" cy="640080"/>
            <a:chOff x="0" y="0"/>
            <a:chExt cx="7315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03120" y="6364224"/>
            <a:ext cx="7498080" cy="640080"/>
            <a:chOff x="0" y="0"/>
            <a:chExt cx="999744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59 rows — customer location and contact info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45920" y="7370064"/>
            <a:ext cx="548640" cy="640080"/>
            <a:chOff x="0" y="0"/>
            <a:chExt cx="73152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03120" y="7370064"/>
            <a:ext cx="7498080" cy="640080"/>
            <a:chOff x="0" y="0"/>
            <a:chExt cx="999744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invoice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614 rows — billing details and invoice totals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45920" y="8375904"/>
            <a:ext cx="548640" cy="640080"/>
            <a:chOff x="0" y="0"/>
            <a:chExt cx="73152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103120" y="8375904"/>
            <a:ext cx="7498080" cy="640080"/>
            <a:chOff x="0" y="0"/>
            <a:chExt cx="99974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invoice_line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2240 rows — individual track purchases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26880" y="6364224"/>
            <a:ext cx="548640" cy="640080"/>
            <a:chOff x="0" y="0"/>
            <a:chExt cx="73152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84080" y="6364224"/>
            <a:ext cx="7498080" cy="640080"/>
            <a:chOff x="0" y="0"/>
            <a:chExt cx="99974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/ album / artist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3503 tracks across 347 albums and 275 artists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26880" y="7370064"/>
            <a:ext cx="548640" cy="640080"/>
            <a:chOff x="0" y="0"/>
            <a:chExt cx="73152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31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784080" y="7370064"/>
            <a:ext cx="7498080" cy="640080"/>
            <a:chOff x="0" y="0"/>
            <a:chExt cx="999744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 / media_type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25 genres and 5 media types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Q1 — Data Quality Check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Checking for NULL values and duplicate records before any 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5167" y="2188207"/>
            <a:ext cx="7876537" cy="3670297"/>
            <a:chOff x="0" y="0"/>
            <a:chExt cx="10502049" cy="4893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02011" cy="4893691"/>
            </a:xfrm>
            <a:custGeom>
              <a:avLst/>
              <a:gdLst/>
              <a:ahLst/>
              <a:cxnLst/>
              <a:rect r="r" b="b" t="t" l="l"/>
              <a:pathLst>
                <a:path h="4893691" w="10502011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0306304" y="0"/>
                  </a:lnTo>
                  <a:cubicBezTo>
                    <a:pt x="10414381" y="0"/>
                    <a:pt x="10502011" y="87630"/>
                    <a:pt x="10502011" y="195707"/>
                  </a:cubicBezTo>
                  <a:lnTo>
                    <a:pt x="10502011" y="4697984"/>
                  </a:lnTo>
                  <a:cubicBezTo>
                    <a:pt x="10502011" y="4806061"/>
                    <a:pt x="10414381" y="4893691"/>
                    <a:pt x="10306304" y="4893691"/>
                  </a:cubicBezTo>
                  <a:lnTo>
                    <a:pt x="195707" y="4893691"/>
                  </a:lnTo>
                  <a:cubicBezTo>
                    <a:pt x="87630" y="4893691"/>
                    <a:pt x="0" y="4806061"/>
                    <a:pt x="0" y="4697984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377440"/>
            <a:ext cx="7132320" cy="640080"/>
            <a:chOff x="0" y="0"/>
            <a:chExt cx="950976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NULL Values Found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145536"/>
            <a:ext cx="7132320" cy="548640"/>
            <a:chOff x="0" y="0"/>
            <a:chExt cx="95097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customer.company → 49 out of 59 are NULL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3785616"/>
            <a:ext cx="7132320" cy="548640"/>
            <a:chOff x="0" y="0"/>
            <a:chExt cx="95097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customer.fax → 47 out of 59 are NULL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4425696"/>
            <a:ext cx="7132320" cy="548640"/>
            <a:chOff x="0" y="0"/>
            <a:chExt cx="95097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track.composer → 978 out of 3503 are NULL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5065776"/>
            <a:ext cx="7132320" cy="548640"/>
            <a:chOff x="0" y="0"/>
            <a:chExt cx="95097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invoice.billing_state → NULL for some countries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37647" y="2188207"/>
            <a:ext cx="7876537" cy="3670297"/>
            <a:chOff x="0" y="0"/>
            <a:chExt cx="10502049" cy="4893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02011" cy="4893691"/>
            </a:xfrm>
            <a:custGeom>
              <a:avLst/>
              <a:gdLst/>
              <a:ahLst/>
              <a:cxnLst/>
              <a:rect r="r" b="b" t="t" l="l"/>
              <a:pathLst>
                <a:path h="4893691" w="10502011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0306304" y="0"/>
                  </a:lnTo>
                  <a:cubicBezTo>
                    <a:pt x="10414381" y="0"/>
                    <a:pt x="10502011" y="87630"/>
                    <a:pt x="10502011" y="195707"/>
                  </a:cubicBezTo>
                  <a:lnTo>
                    <a:pt x="10502011" y="4697984"/>
                  </a:lnTo>
                  <a:cubicBezTo>
                    <a:pt x="10502011" y="4806061"/>
                    <a:pt x="10414381" y="4893691"/>
                    <a:pt x="10306304" y="4893691"/>
                  </a:cubicBezTo>
                  <a:lnTo>
                    <a:pt x="195707" y="4893691"/>
                  </a:lnTo>
                  <a:cubicBezTo>
                    <a:pt x="87630" y="4893691"/>
                    <a:pt x="0" y="4806061"/>
                    <a:pt x="0" y="4697984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09760" y="2377440"/>
            <a:ext cx="7132320" cy="640080"/>
            <a:chOff x="0" y="0"/>
            <a:chExt cx="950976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Duplicates Found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9760" y="3145536"/>
            <a:ext cx="7132320" cy="548640"/>
            <a:chOff x="0" y="0"/>
            <a:chExt cx="95097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invoice_line → 6 duplicate entries found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9760" y="3785616"/>
            <a:ext cx="7132320" cy="548640"/>
            <a:chOff x="0" y="0"/>
            <a:chExt cx="95097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table → same name in same album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09760" y="4425696"/>
            <a:ext cx="7132320" cy="548640"/>
            <a:chOff x="0" y="0"/>
            <a:chExt cx="95097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emails → no duplicates (clean)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5065776"/>
            <a:ext cx="7132320" cy="548640"/>
            <a:chOff x="0" y="0"/>
            <a:chExt cx="95097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○  </a:t>
              </a: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employee data → fully clean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5167" y="6120127"/>
            <a:ext cx="16471897" cy="3304537"/>
            <a:chOff x="0" y="0"/>
            <a:chExt cx="21962529" cy="44060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62618" cy="4406138"/>
            </a:xfrm>
            <a:custGeom>
              <a:avLst/>
              <a:gdLst/>
              <a:ahLst/>
              <a:cxnLst/>
              <a:rect r="r" b="b" t="t" l="l"/>
              <a:pathLst>
                <a:path h="4406138" w="21962618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21766785" y="0"/>
                  </a:lnTo>
                  <a:cubicBezTo>
                    <a:pt x="21874862" y="0"/>
                    <a:pt x="21962618" y="87630"/>
                    <a:pt x="21962618" y="195834"/>
                  </a:cubicBezTo>
                  <a:lnTo>
                    <a:pt x="21962618" y="4210304"/>
                  </a:lnTo>
                  <a:cubicBezTo>
                    <a:pt x="21962618" y="4318381"/>
                    <a:pt x="21874989" y="4406138"/>
                    <a:pt x="21766785" y="4406138"/>
                  </a:cubicBezTo>
                  <a:lnTo>
                    <a:pt x="195834" y="4406138"/>
                  </a:lnTo>
                  <a:cubicBezTo>
                    <a:pt x="87630" y="4406011"/>
                    <a:pt x="0" y="4318381"/>
                    <a:pt x="0" y="4210304"/>
                  </a:cubicBezTo>
                  <a:close/>
                </a:path>
              </a:pathLst>
            </a:custGeom>
            <a:solidFill>
              <a:srgbClr val="EBF3FB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" y="6309360"/>
            <a:ext cx="15544800" cy="640080"/>
            <a:chOff x="0" y="0"/>
            <a:chExt cx="2072640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207264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These Were Handled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8720" y="7040880"/>
            <a:ext cx="15727680" cy="1828800"/>
            <a:chOff x="0" y="0"/>
            <a:chExt cx="20970240" cy="2438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9702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097024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NULLs in fax, phone, and company are optional fields — retained as-is.  978 NULL composers in the track table is a data gap worth noting.  Duplicate invoice_line entries should be cleaned by keeping the lowest invoice_line_id.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Q2 — Top Tracks &amp; Artists in the USA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Filtered by billing_country = 'USA' — revenue and units sold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29184" y="1133856"/>
            <a:ext cx="12728448" cy="9070848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1789407" y="2188207"/>
            <a:ext cx="5681977" cy="2024377"/>
            <a:chOff x="0" y="0"/>
            <a:chExt cx="7575969" cy="2699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760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75760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379716" y="0"/>
                  </a:lnTo>
                  <a:cubicBezTo>
                    <a:pt x="7488174" y="0"/>
                    <a:pt x="7576058" y="87884"/>
                    <a:pt x="7576058" y="196342"/>
                  </a:cubicBezTo>
                  <a:lnTo>
                    <a:pt x="7576058" y="2502916"/>
                  </a:lnTo>
                  <a:cubicBezTo>
                    <a:pt x="7576058" y="2611374"/>
                    <a:pt x="7488174" y="2699258"/>
                    <a:pt x="737971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61520" y="2340864"/>
            <a:ext cx="5120640" cy="548640"/>
            <a:chOff x="0" y="0"/>
            <a:chExt cx="68275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🥇  Top Artist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61520" y="2889504"/>
            <a:ext cx="5120640" cy="822960"/>
            <a:chOff x="0" y="0"/>
            <a:chExt cx="682752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827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AC/DC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89407" y="4474207"/>
            <a:ext cx="5681977" cy="2024377"/>
            <a:chOff x="0" y="0"/>
            <a:chExt cx="7575969" cy="26991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760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75760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379716" y="0"/>
                  </a:lnTo>
                  <a:cubicBezTo>
                    <a:pt x="7488174" y="0"/>
                    <a:pt x="7576058" y="87884"/>
                    <a:pt x="7576058" y="196342"/>
                  </a:cubicBezTo>
                  <a:lnTo>
                    <a:pt x="7576058" y="2502916"/>
                  </a:lnTo>
                  <a:cubicBezTo>
                    <a:pt x="7576058" y="2611374"/>
                    <a:pt x="7488174" y="2699258"/>
                    <a:pt x="737971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161520" y="4626864"/>
            <a:ext cx="5120640" cy="548640"/>
            <a:chOff x="0" y="0"/>
            <a:chExt cx="6827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🎸  Top Genre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61520" y="5175504"/>
            <a:ext cx="5120640" cy="822960"/>
            <a:chOff x="0" y="0"/>
            <a:chExt cx="68275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827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Rock — 35%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89407" y="6760207"/>
            <a:ext cx="5681977" cy="2024377"/>
            <a:chOff x="0" y="0"/>
            <a:chExt cx="7575969" cy="26991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760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7576058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7379716" y="0"/>
                  </a:lnTo>
                  <a:cubicBezTo>
                    <a:pt x="7488174" y="0"/>
                    <a:pt x="7576058" y="87884"/>
                    <a:pt x="7576058" y="196342"/>
                  </a:cubicBezTo>
                  <a:lnTo>
                    <a:pt x="7576058" y="2502916"/>
                  </a:lnTo>
                  <a:cubicBezTo>
                    <a:pt x="7576058" y="2611374"/>
                    <a:pt x="7488174" y="2699258"/>
                    <a:pt x="7379716" y="2699258"/>
                  </a:cubicBezTo>
                  <a:lnTo>
                    <a:pt x="196342" y="2699258"/>
                  </a:lnTo>
                  <a:cubicBezTo>
                    <a:pt x="87884" y="2699131"/>
                    <a:pt x="0" y="2611247"/>
                    <a:pt x="0" y="25029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161520" y="6912864"/>
            <a:ext cx="5120640" cy="548640"/>
            <a:chOff x="0" y="0"/>
            <a:chExt cx="6827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📀  Top Tracks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61520" y="7461504"/>
            <a:ext cx="5120640" cy="822960"/>
            <a:chOff x="0" y="0"/>
            <a:chExt cx="68275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8275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AC/DC catalog dominates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5167" y="9320527"/>
            <a:ext cx="16837657" cy="652777"/>
            <a:chOff x="0" y="0"/>
            <a:chExt cx="22450209" cy="8703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450044" cy="870204"/>
            </a:xfrm>
            <a:custGeom>
              <a:avLst/>
              <a:gdLst/>
              <a:ahLst/>
              <a:cxnLst/>
              <a:rect r="r" b="b" t="t" l="l"/>
              <a:pathLst>
                <a:path h="870204" w="2245004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rgbClr val="FEF3C7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9418320"/>
            <a:ext cx="16093440" cy="457200"/>
            <a:chOff x="0" y="0"/>
            <a:chExt cx="2145792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Rock contributes 35% of all USA music revenue. Any new Rock album from the label is the safest promotional bet in the USA.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Q4 — Revenue by Country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invoices and revenue grouped by billing country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02336" y="1060704"/>
            <a:ext cx="13606272" cy="976579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2520927" y="2188207"/>
            <a:ext cx="4950457" cy="2207257"/>
            <a:chOff x="0" y="0"/>
            <a:chExt cx="6600609" cy="29430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0571" cy="2942971"/>
            </a:xfrm>
            <a:custGeom>
              <a:avLst/>
              <a:gdLst/>
              <a:ahLst/>
              <a:cxnLst/>
              <a:rect r="r" b="b" t="t" l="l"/>
              <a:pathLst>
                <a:path h="2942971" w="6600571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404356" y="0"/>
                  </a:lnTo>
                  <a:cubicBezTo>
                    <a:pt x="6512687" y="0"/>
                    <a:pt x="6600571" y="87884"/>
                    <a:pt x="6600571" y="196215"/>
                  </a:cubicBezTo>
                  <a:lnTo>
                    <a:pt x="6600571" y="2746756"/>
                  </a:lnTo>
                  <a:cubicBezTo>
                    <a:pt x="6600571" y="2855087"/>
                    <a:pt x="6512687" y="2942971"/>
                    <a:pt x="6404356" y="2942971"/>
                  </a:cubicBezTo>
                  <a:lnTo>
                    <a:pt x="196215" y="2942971"/>
                  </a:lnTo>
                  <a:cubicBezTo>
                    <a:pt x="87884" y="2942971"/>
                    <a:pt x="0" y="2855214"/>
                    <a:pt x="0" y="274675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527280" y="2340864"/>
            <a:ext cx="4937760" cy="640080"/>
            <a:chOff x="0" y="0"/>
            <a:chExt cx="658368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58368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27280" y="2980944"/>
            <a:ext cx="4937760" cy="731520"/>
            <a:chOff x="0" y="0"/>
            <a:chExt cx="658368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5836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$523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27280" y="3694176"/>
            <a:ext cx="4937760" cy="640080"/>
            <a:chOff x="0" y="0"/>
            <a:chExt cx="658368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volume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20927" y="4748527"/>
            <a:ext cx="4950457" cy="2207257"/>
            <a:chOff x="0" y="0"/>
            <a:chExt cx="6600609" cy="29430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0571" cy="2942971"/>
            </a:xfrm>
            <a:custGeom>
              <a:avLst/>
              <a:gdLst/>
              <a:ahLst/>
              <a:cxnLst/>
              <a:rect r="r" b="b" t="t" l="l"/>
              <a:pathLst>
                <a:path h="2942971" w="6600571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404356" y="0"/>
                  </a:lnTo>
                  <a:cubicBezTo>
                    <a:pt x="6512687" y="0"/>
                    <a:pt x="6600571" y="87884"/>
                    <a:pt x="6600571" y="196215"/>
                  </a:cubicBezTo>
                  <a:lnTo>
                    <a:pt x="6600571" y="2746756"/>
                  </a:lnTo>
                  <a:cubicBezTo>
                    <a:pt x="6600571" y="2855087"/>
                    <a:pt x="6512687" y="2942971"/>
                    <a:pt x="6404356" y="2942971"/>
                  </a:cubicBezTo>
                  <a:lnTo>
                    <a:pt x="196215" y="2942971"/>
                  </a:lnTo>
                  <a:cubicBezTo>
                    <a:pt x="87884" y="2942971"/>
                    <a:pt x="0" y="2855214"/>
                    <a:pt x="0" y="274675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527280" y="4901184"/>
            <a:ext cx="4937760" cy="640080"/>
            <a:chOff x="0" y="0"/>
            <a:chExt cx="658368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58368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Brazil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27280" y="5541264"/>
            <a:ext cx="4937760" cy="731520"/>
            <a:chOff x="0" y="0"/>
            <a:chExt cx="658368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5836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$428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527280" y="6254496"/>
            <a:ext cx="4937760" cy="640080"/>
            <a:chOff x="0" y="0"/>
            <a:chExt cx="658368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High-value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20927" y="7308847"/>
            <a:ext cx="4950457" cy="2207257"/>
            <a:chOff x="0" y="0"/>
            <a:chExt cx="6600609" cy="29430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0571" cy="2942971"/>
            </a:xfrm>
            <a:custGeom>
              <a:avLst/>
              <a:gdLst/>
              <a:ahLst/>
              <a:cxnLst/>
              <a:rect r="r" b="b" t="t" l="l"/>
              <a:pathLst>
                <a:path h="2942971" w="6600571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404356" y="0"/>
                  </a:lnTo>
                  <a:cubicBezTo>
                    <a:pt x="6512687" y="0"/>
                    <a:pt x="6600571" y="87884"/>
                    <a:pt x="6600571" y="196215"/>
                  </a:cubicBezTo>
                  <a:lnTo>
                    <a:pt x="6600571" y="2746756"/>
                  </a:lnTo>
                  <a:cubicBezTo>
                    <a:pt x="6600571" y="2855087"/>
                    <a:pt x="6512687" y="2942971"/>
                    <a:pt x="6404356" y="2942971"/>
                  </a:cubicBezTo>
                  <a:lnTo>
                    <a:pt x="196215" y="2942971"/>
                  </a:lnTo>
                  <a:cubicBezTo>
                    <a:pt x="87884" y="2942971"/>
                    <a:pt x="0" y="2855214"/>
                    <a:pt x="0" y="2746756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27280" y="7461504"/>
            <a:ext cx="4937760" cy="640080"/>
            <a:chOff x="0" y="0"/>
            <a:chExt cx="658368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58368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C3AE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Canada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27280" y="8101584"/>
            <a:ext cx="4937760" cy="731520"/>
            <a:chOff x="0" y="0"/>
            <a:chExt cx="658368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58368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7C3AE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$304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27280" y="8814816"/>
            <a:ext cx="4937760" cy="640080"/>
            <a:chOff x="0" y="0"/>
            <a:chExt cx="65836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Consistent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spend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5167" y="9320527"/>
            <a:ext cx="16837657" cy="652777"/>
            <a:chOff x="0" y="0"/>
            <a:chExt cx="22450209" cy="8703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450044" cy="870204"/>
            </a:xfrm>
            <a:custGeom>
              <a:avLst/>
              <a:gdLst/>
              <a:ahLst/>
              <a:cxnLst/>
              <a:rect r="r" b="b" t="t" l="l"/>
              <a:pathLst>
                <a:path h="870204" w="2245004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rgbClr val="F0FDF4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97280" y="9418320"/>
            <a:ext cx="16093440" cy="457200"/>
            <a:chOff x="0" y="0"/>
            <a:chExt cx="2145792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65F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USA leads in volume, Brazil leads in per-customer value. European markets like Czech Republic punch above their weight per customer.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Q5 — Top 5 Customers per Country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RANK() window function partitioned by country — revenue leaders by region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14400" y="2286000"/>
          <a:ext cx="11303000" cy="5791200"/>
        </p:xfrm>
        <a:graphic>
          <a:graphicData uri="http://schemas.openxmlformats.org/drawingml/2006/table">
            <a:tbl>
              <a:tblPr/>
              <a:tblGrid>
                <a:gridCol w="1289907"/>
                <a:gridCol w="4542280"/>
                <a:gridCol w="2916094"/>
                <a:gridCol w="2554719"/>
              </a:tblGrid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Customer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Country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 Spent ($)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Luís Gonçalves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Brazil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563A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108.90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François Tremblay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Canada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563A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99.99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Mark Taylor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Australia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563A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81.18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Eduardo Martins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Brazil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563A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60.39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Daan Peeters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Belgium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563A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60.39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1515087" y="2279647"/>
            <a:ext cx="6047737" cy="2755897"/>
            <a:chOff x="0" y="0"/>
            <a:chExt cx="8063649" cy="3674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63611" cy="3674491"/>
            </a:xfrm>
            <a:custGeom>
              <a:avLst/>
              <a:gdLst/>
              <a:ahLst/>
              <a:cxnLst/>
              <a:rect r="r" b="b" t="t" l="l"/>
              <a:pathLst>
                <a:path h="3674491" w="806361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867650" y="0"/>
                  </a:lnTo>
                  <a:cubicBezTo>
                    <a:pt x="7975854" y="0"/>
                    <a:pt x="8063611" y="87757"/>
                    <a:pt x="8063611" y="195961"/>
                  </a:cubicBezTo>
                  <a:lnTo>
                    <a:pt x="8063611" y="3478530"/>
                  </a:lnTo>
                  <a:cubicBezTo>
                    <a:pt x="8063611" y="3586734"/>
                    <a:pt x="7975854" y="3674491"/>
                    <a:pt x="786765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887200" y="2468880"/>
            <a:ext cx="5303520" cy="548640"/>
            <a:chOff x="0" y="0"/>
            <a:chExt cx="70713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Finding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3072384"/>
            <a:ext cx="5303520" cy="1280160"/>
            <a:chOff x="0" y="0"/>
            <a:chExt cx="7071360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0713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Many countries have</a:t>
              </a: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only 1 customer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15087" y="5297167"/>
            <a:ext cx="6047737" cy="2755897"/>
            <a:chOff x="0" y="0"/>
            <a:chExt cx="8063649" cy="3674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63611" cy="3674491"/>
            </a:xfrm>
            <a:custGeom>
              <a:avLst/>
              <a:gdLst/>
              <a:ahLst/>
              <a:cxnLst/>
              <a:rect r="r" b="b" t="t" l="l"/>
              <a:pathLst>
                <a:path h="3674491" w="806361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867650" y="0"/>
                  </a:lnTo>
                  <a:cubicBezTo>
                    <a:pt x="7975854" y="0"/>
                    <a:pt x="8063611" y="87757"/>
                    <a:pt x="8063611" y="195961"/>
                  </a:cubicBezTo>
                  <a:lnTo>
                    <a:pt x="8063611" y="3478530"/>
                  </a:lnTo>
                  <a:cubicBezTo>
                    <a:pt x="8063611" y="3586734"/>
                    <a:pt x="7975854" y="3674491"/>
                    <a:pt x="786765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887200" y="5486400"/>
            <a:ext cx="5303520" cy="548640"/>
            <a:chOff x="0" y="0"/>
            <a:chExt cx="70713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0" y="6035040"/>
            <a:ext cx="5303520" cy="1463040"/>
            <a:chOff x="0" y="0"/>
            <a:chExt cx="7071360" cy="195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13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0713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Argentina, Austria,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Australia = untapped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5167" y="9320527"/>
            <a:ext cx="16837657" cy="652777"/>
            <a:chOff x="0" y="0"/>
            <a:chExt cx="22450209" cy="8703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450044" cy="870204"/>
            </a:xfrm>
            <a:custGeom>
              <a:avLst/>
              <a:gdLst/>
              <a:ahLst/>
              <a:cxnLst/>
              <a:rect r="r" b="b" t="t" l="l"/>
              <a:pathLst>
                <a:path h="870204" w="2245004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rgbClr val="FEF3C7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9418320"/>
            <a:ext cx="16093440" cy="457200"/>
            <a:chOff x="0" y="0"/>
            <a:chExt cx="2145792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Single-customer countries represent significant growth opportunity — they have proven interest but minimal penetration.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Q8 — Customer Churn Rate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with no purchase in the 3 months before dataset end date (Dec 2013)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91440" y="1371600"/>
            <a:ext cx="9875520" cy="896112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9503407" y="2188207"/>
            <a:ext cx="3853177" cy="2755897"/>
            <a:chOff x="0" y="0"/>
            <a:chExt cx="5137569" cy="3674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09760" y="2523744"/>
            <a:ext cx="3840480" cy="1280160"/>
            <a:chOff x="0" y="0"/>
            <a:chExt cx="512064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9760" y="3840480"/>
            <a:ext cx="3840480" cy="822960"/>
            <a:chOff x="0" y="0"/>
            <a:chExt cx="51206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Customers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09647" y="2188207"/>
            <a:ext cx="3853177" cy="2755897"/>
            <a:chOff x="0" y="0"/>
            <a:chExt cx="5137569" cy="3674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0" y="2523744"/>
            <a:ext cx="3840480" cy="1280160"/>
            <a:chOff x="0" y="0"/>
            <a:chExt cx="512064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DC262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0" y="3840480"/>
            <a:ext cx="3840480" cy="822960"/>
            <a:chOff x="0" y="0"/>
            <a:chExt cx="512064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Churned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3407" y="5297167"/>
            <a:ext cx="3853177" cy="2755897"/>
            <a:chOff x="0" y="0"/>
            <a:chExt cx="5137569" cy="36745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09760" y="5632704"/>
            <a:ext cx="3840480" cy="1280160"/>
            <a:chOff x="0" y="0"/>
            <a:chExt cx="512064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5966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9760" y="6949440"/>
            <a:ext cx="3840480" cy="822960"/>
            <a:chOff x="0" y="0"/>
            <a:chExt cx="512064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Still Active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09647" y="5297167"/>
            <a:ext cx="3853177" cy="2755897"/>
            <a:chOff x="0" y="0"/>
            <a:chExt cx="5137569" cy="36745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716000" y="5632704"/>
            <a:ext cx="3840480" cy="1280160"/>
            <a:chOff x="0" y="0"/>
            <a:chExt cx="5120640" cy="1706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DC262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64%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16000" y="6949440"/>
            <a:ext cx="3840480" cy="822960"/>
            <a:chOff x="0" y="0"/>
            <a:chExt cx="512064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Churn Rate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3407" y="8314687"/>
            <a:ext cx="8059417" cy="1750057"/>
            <a:chOff x="0" y="0"/>
            <a:chExt cx="10745889" cy="23334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45850" cy="2333371"/>
            </a:xfrm>
            <a:custGeom>
              <a:avLst/>
              <a:gdLst/>
              <a:ahLst/>
              <a:cxnLst/>
              <a:rect r="r" b="b" t="t" l="l"/>
              <a:pathLst>
                <a:path h="2333371" w="10745850">
                  <a:moveTo>
                    <a:pt x="0" y="196469"/>
                  </a:moveTo>
                  <a:cubicBezTo>
                    <a:pt x="0" y="88011"/>
                    <a:pt x="88011" y="0"/>
                    <a:pt x="196469" y="0"/>
                  </a:cubicBezTo>
                  <a:lnTo>
                    <a:pt x="10549382" y="0"/>
                  </a:lnTo>
                  <a:cubicBezTo>
                    <a:pt x="10657967" y="0"/>
                    <a:pt x="10745850" y="88011"/>
                    <a:pt x="10745850" y="196469"/>
                  </a:cubicBezTo>
                  <a:lnTo>
                    <a:pt x="10745850" y="2136902"/>
                  </a:lnTo>
                  <a:cubicBezTo>
                    <a:pt x="10745850" y="2245487"/>
                    <a:pt x="10657839" y="2333371"/>
                    <a:pt x="10549382" y="2333371"/>
                  </a:cubicBezTo>
                  <a:lnTo>
                    <a:pt x="196469" y="2333371"/>
                  </a:lnTo>
                  <a:cubicBezTo>
                    <a:pt x="88011" y="2333371"/>
                    <a:pt x="0" y="2245487"/>
                    <a:pt x="0" y="2136902"/>
                  </a:cubicBezTo>
                  <a:close/>
                </a:path>
              </a:pathLst>
            </a:custGeom>
            <a:solidFill>
              <a:srgbClr val="FEF2F2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875520" y="8449056"/>
            <a:ext cx="7315200" cy="512064"/>
            <a:chOff x="0" y="0"/>
            <a:chExt cx="975360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This Means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75520" y="8997696"/>
            <a:ext cx="7315200" cy="914400"/>
            <a:chOff x="0" y="0"/>
            <a:chExt cx="975360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7536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64% churn is high but expected for a historical dataset. Re-engagement campaigns targeting the 38 churned customers via email is the immediate action.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Q7 — Customer Purchasing Behavior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Frequency, basket size, average order value — across all 59 customers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5167" y="2279647"/>
            <a:ext cx="3853177" cy="2755897"/>
            <a:chOff x="0" y="0"/>
            <a:chExt cx="5137569" cy="36745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2615184"/>
            <a:ext cx="3840480" cy="1280160"/>
            <a:chOff x="0" y="0"/>
            <a:chExt cx="5120640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6–7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3931920"/>
            <a:ext cx="3840480" cy="822960"/>
            <a:chOff x="0" y="0"/>
            <a:chExt cx="51206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Invoices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Customer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39967" y="2279647"/>
            <a:ext cx="3853177" cy="2755897"/>
            <a:chOff x="0" y="0"/>
            <a:chExt cx="5137569" cy="3674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46320" y="2615184"/>
            <a:ext cx="3840480" cy="1280160"/>
            <a:chOff x="0" y="0"/>
            <a:chExt cx="512064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$5–8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46320" y="3931920"/>
            <a:ext cx="3840480" cy="822960"/>
            <a:chOff x="0" y="0"/>
            <a:chExt cx="512064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Order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Value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54767" y="2279647"/>
            <a:ext cx="3853177" cy="2755897"/>
            <a:chOff x="0" y="0"/>
            <a:chExt cx="5137569" cy="36745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961120" y="2615184"/>
            <a:ext cx="3840480" cy="1280160"/>
            <a:chOff x="0" y="0"/>
            <a:chExt cx="512064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2–3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61120" y="3931920"/>
            <a:ext cx="3840480" cy="822960"/>
            <a:chOff x="0" y="0"/>
            <a:chExt cx="512064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Tracks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Order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069567" y="2279647"/>
            <a:ext cx="3853177" cy="2755897"/>
            <a:chOff x="0" y="0"/>
            <a:chExt cx="5137569" cy="36745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37531" cy="3674491"/>
            </a:xfrm>
            <a:custGeom>
              <a:avLst/>
              <a:gdLst/>
              <a:ahLst/>
              <a:cxnLst/>
              <a:rect r="r" b="b" t="t" l="l"/>
              <a:pathLst>
                <a:path h="3674491" w="5137531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4941570" y="0"/>
                  </a:lnTo>
                  <a:cubicBezTo>
                    <a:pt x="5049774" y="0"/>
                    <a:pt x="5137531" y="87757"/>
                    <a:pt x="5137531" y="195961"/>
                  </a:cubicBezTo>
                  <a:lnTo>
                    <a:pt x="5137531" y="3478530"/>
                  </a:lnTo>
                  <a:cubicBezTo>
                    <a:pt x="5137531" y="3586734"/>
                    <a:pt x="5049774" y="3674491"/>
                    <a:pt x="4941570" y="3674491"/>
                  </a:cubicBezTo>
                  <a:lnTo>
                    <a:pt x="195961" y="3674491"/>
                  </a:lnTo>
                  <a:cubicBezTo>
                    <a:pt x="87757" y="3674491"/>
                    <a:pt x="0" y="3586734"/>
                    <a:pt x="0" y="34785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075920" y="2615184"/>
            <a:ext cx="3840480" cy="1280160"/>
            <a:chOff x="0" y="0"/>
            <a:chExt cx="5120640" cy="1706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1206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3–5yr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75920" y="3931920"/>
            <a:ext cx="3840480" cy="822960"/>
            <a:chOff x="0" y="0"/>
            <a:chExt cx="512064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Customer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Tenure</a:t>
              </a:r>
            </a:p>
          </p:txBody>
        </p:sp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950976" y="3803904"/>
            <a:ext cx="20189952" cy="7022592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 rot="0">
            <a:off x="725167" y="9320527"/>
            <a:ext cx="16837657" cy="652777"/>
            <a:chOff x="0" y="0"/>
            <a:chExt cx="22450209" cy="87036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450044" cy="870204"/>
            </a:xfrm>
            <a:custGeom>
              <a:avLst/>
              <a:gdLst/>
              <a:ahLst/>
              <a:cxnLst/>
              <a:rect r="r" b="b" t="t" l="l"/>
              <a:pathLst>
                <a:path h="870204" w="2245004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rgbClr val="F0FDF4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97280" y="9418320"/>
            <a:ext cx="16093440" cy="457200"/>
            <a:chOff x="0" y="0"/>
            <a:chExt cx="2145792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65F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Customers are small-basket, consistent shoppers. They buy 2–3 tracks per visit and come back regularly. A subscription or bundle model could double the avg order value.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Q9 &amp; Q11 — Genre Performance in USA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percentage and ranking of all genres in the USA market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65760" y="1280160"/>
            <a:ext cx="10972800" cy="896112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0149840" y="2286000"/>
            <a:ext cx="7315200" cy="640080"/>
            <a:chOff x="0" y="0"/>
            <a:chExt cx="97536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 Leaderboard — USA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43487" y="3066031"/>
            <a:ext cx="7327897" cy="1109977"/>
            <a:chOff x="0" y="0"/>
            <a:chExt cx="9770529" cy="14799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70618" cy="1480058"/>
            </a:xfrm>
            <a:custGeom>
              <a:avLst/>
              <a:gdLst/>
              <a:ahLst/>
              <a:cxnLst/>
              <a:rect r="r" b="b" t="t" l="l"/>
              <a:pathLst>
                <a:path h="1480058" w="977061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424160" y="3255264"/>
            <a:ext cx="731520" cy="694944"/>
            <a:chOff x="0" y="0"/>
            <a:chExt cx="97536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563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47120" y="3255264"/>
            <a:ext cx="4023360" cy="694944"/>
            <a:chOff x="0" y="0"/>
            <a:chExt cx="536448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Rock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79040" y="3255264"/>
            <a:ext cx="2011680" cy="694944"/>
            <a:chOff x="0" y="0"/>
            <a:chExt cx="268224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2563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$157.43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43487" y="4382767"/>
            <a:ext cx="7327897" cy="1109977"/>
            <a:chOff x="0" y="0"/>
            <a:chExt cx="9770529" cy="14799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70618" cy="1480058"/>
            </a:xfrm>
            <a:custGeom>
              <a:avLst/>
              <a:gdLst/>
              <a:ahLst/>
              <a:cxnLst/>
              <a:rect r="r" b="b" t="t" l="l"/>
              <a:pathLst>
                <a:path h="1480058" w="977061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424160" y="4572000"/>
            <a:ext cx="731520" cy="694944"/>
            <a:chOff x="0" y="0"/>
            <a:chExt cx="97536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47120" y="4572000"/>
            <a:ext cx="4023360" cy="694944"/>
            <a:chOff x="0" y="0"/>
            <a:chExt cx="536448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Latin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79040" y="4572000"/>
            <a:ext cx="2011680" cy="694944"/>
            <a:chOff x="0" y="0"/>
            <a:chExt cx="2682240" cy="926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$90.09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143487" y="5699503"/>
            <a:ext cx="7327897" cy="1109977"/>
            <a:chOff x="0" y="0"/>
            <a:chExt cx="9770529" cy="14799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70618" cy="1480058"/>
            </a:xfrm>
            <a:custGeom>
              <a:avLst/>
              <a:gdLst/>
              <a:ahLst/>
              <a:cxnLst/>
              <a:rect r="r" b="b" t="t" l="l"/>
              <a:pathLst>
                <a:path h="1480058" w="977061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424160" y="5888736"/>
            <a:ext cx="731520" cy="694944"/>
            <a:chOff x="0" y="0"/>
            <a:chExt cx="97536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7C3AE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247120" y="5888736"/>
            <a:ext cx="4023360" cy="694944"/>
            <a:chOff x="0" y="0"/>
            <a:chExt cx="53644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179040" y="5888736"/>
            <a:ext cx="2011680" cy="694944"/>
            <a:chOff x="0" y="0"/>
            <a:chExt cx="268224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$63.36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43487" y="7016239"/>
            <a:ext cx="7327897" cy="1109977"/>
            <a:chOff x="0" y="0"/>
            <a:chExt cx="9770529" cy="14799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70618" cy="1480058"/>
            </a:xfrm>
            <a:custGeom>
              <a:avLst/>
              <a:gdLst/>
              <a:ahLst/>
              <a:cxnLst/>
              <a:rect r="r" b="b" t="t" l="l"/>
              <a:pathLst>
                <a:path h="1480058" w="977061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24160" y="7205472"/>
            <a:ext cx="731520" cy="694944"/>
            <a:chOff x="0" y="0"/>
            <a:chExt cx="97536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247120" y="7205472"/>
            <a:ext cx="4023360" cy="694944"/>
            <a:chOff x="0" y="0"/>
            <a:chExt cx="5364480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 &amp; Punk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179040" y="7205472"/>
            <a:ext cx="2011680" cy="694944"/>
            <a:chOff x="0" y="0"/>
            <a:chExt cx="268224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$49.50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143487" y="8332975"/>
            <a:ext cx="7327897" cy="1109977"/>
            <a:chOff x="0" y="0"/>
            <a:chExt cx="9770529" cy="147996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70618" cy="1480058"/>
            </a:xfrm>
            <a:custGeom>
              <a:avLst/>
              <a:gdLst/>
              <a:ahLst/>
              <a:cxnLst/>
              <a:rect r="r" b="b" t="t" l="l"/>
              <a:pathLst>
                <a:path h="1480058" w="9770618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9573260" y="0"/>
                  </a:lnTo>
                  <a:cubicBezTo>
                    <a:pt x="9682226" y="0"/>
                    <a:pt x="9770618" y="88392"/>
                    <a:pt x="9770618" y="197358"/>
                  </a:cubicBezTo>
                  <a:lnTo>
                    <a:pt x="9770618" y="1282700"/>
                  </a:lnTo>
                  <a:cubicBezTo>
                    <a:pt x="9770618" y="1391666"/>
                    <a:pt x="9682226" y="1480058"/>
                    <a:pt x="9573260" y="1480058"/>
                  </a:cubicBezTo>
                  <a:lnTo>
                    <a:pt x="197358" y="1480058"/>
                  </a:lnTo>
                  <a:cubicBezTo>
                    <a:pt x="88392" y="1479931"/>
                    <a:pt x="0" y="1391666"/>
                    <a:pt x="0" y="1282700"/>
                  </a:cubicBezTo>
                  <a:close/>
                </a:path>
              </a:pathLst>
            </a:custGeom>
            <a:solidFill>
              <a:srgbClr val="F8FAFC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424160" y="8522208"/>
            <a:ext cx="731520" cy="694944"/>
            <a:chOff x="0" y="0"/>
            <a:chExt cx="97536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1888" t="0" r="-7188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7536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64748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247120" y="8522208"/>
            <a:ext cx="4023360" cy="694944"/>
            <a:chOff x="0" y="0"/>
            <a:chExt cx="536448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3644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Jazz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179040" y="8522208"/>
            <a:ext cx="2011680" cy="694944"/>
            <a:chOff x="0" y="0"/>
            <a:chExt cx="2682240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82240" cy="926592"/>
            </a:xfrm>
            <a:custGeom>
              <a:avLst/>
              <a:gdLst/>
              <a:ahLst/>
              <a:cxnLst/>
              <a:rect r="r" b="b" t="t" l="l"/>
              <a:pathLst>
                <a:path h="92659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04" r="0" b="-640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682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$21.78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25167" y="9320527"/>
            <a:ext cx="16837657" cy="652777"/>
            <a:chOff x="0" y="0"/>
            <a:chExt cx="22450209" cy="8703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50044" cy="870204"/>
            </a:xfrm>
            <a:custGeom>
              <a:avLst/>
              <a:gdLst/>
              <a:ahLst/>
              <a:cxnLst/>
              <a:rect r="r" b="b" t="t" l="l"/>
              <a:pathLst>
                <a:path h="870204" w="22450044">
                  <a:moveTo>
                    <a:pt x="0" y="198882"/>
                  </a:moveTo>
                  <a:cubicBezTo>
                    <a:pt x="0" y="89027"/>
                    <a:pt x="89027" y="0"/>
                    <a:pt x="198882" y="0"/>
                  </a:cubicBezTo>
                  <a:lnTo>
                    <a:pt x="22251163" y="0"/>
                  </a:lnTo>
                  <a:cubicBezTo>
                    <a:pt x="22361018" y="0"/>
                    <a:pt x="22450044" y="89027"/>
                    <a:pt x="22450044" y="198882"/>
                  </a:cubicBezTo>
                  <a:lnTo>
                    <a:pt x="22450044" y="671322"/>
                  </a:lnTo>
                  <a:cubicBezTo>
                    <a:pt x="22450044" y="781177"/>
                    <a:pt x="22361018" y="870204"/>
                    <a:pt x="22251163" y="870204"/>
                  </a:cubicBezTo>
                  <a:lnTo>
                    <a:pt x="198882" y="870204"/>
                  </a:lnTo>
                  <a:cubicBezTo>
                    <a:pt x="89027" y="870331"/>
                    <a:pt x="0" y="781304"/>
                    <a:pt x="0" y="671449"/>
                  </a:cubicBezTo>
                  <a:close/>
                </a:path>
              </a:pathLst>
            </a:custGeom>
            <a:solidFill>
              <a:srgbClr val="FEF3C7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97280" y="9418320"/>
            <a:ext cx="16093440" cy="457200"/>
            <a:chOff x="0" y="0"/>
            <a:chExt cx="21457920" cy="609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45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5873" r="0" b="-63587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Rock + Latin + Metal together = 69% of all USA sales. New label albums in these 3 genres should be the top advertising priority.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716149"/>
                  </a:lnTo>
                  <a:lnTo>
                    <a:pt x="0" y="2716149"/>
                  </a:lnTo>
                  <a:close/>
                </a:path>
              </a:pathLst>
            </a:custGeom>
            <a:solidFill>
              <a:srgbClr val="1B2A4A"/>
            </a:solidFill>
            <a:ln w="2540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Q10 — Customers with Diverse Genre Taste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who purchased tracks from 3 or more different genres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29184" y="1133856"/>
            <a:ext cx="12728448" cy="8705088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1880847" y="2188207"/>
            <a:ext cx="5681977" cy="6596377"/>
            <a:chOff x="0" y="0"/>
            <a:chExt cx="7575969" cy="8795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76058" cy="8795258"/>
            </a:xfrm>
            <a:custGeom>
              <a:avLst/>
              <a:gdLst/>
              <a:ahLst/>
              <a:cxnLst/>
              <a:rect r="r" b="b" t="t" l="l"/>
              <a:pathLst>
                <a:path h="8795258" w="7576058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lnTo>
                    <a:pt x="7380478" y="0"/>
                  </a:lnTo>
                  <a:cubicBezTo>
                    <a:pt x="7488428" y="0"/>
                    <a:pt x="7576058" y="87503"/>
                    <a:pt x="7576058" y="195580"/>
                  </a:cubicBezTo>
                  <a:lnTo>
                    <a:pt x="7576058" y="8599678"/>
                  </a:lnTo>
                  <a:cubicBezTo>
                    <a:pt x="7576058" y="8707628"/>
                    <a:pt x="7488555" y="8795258"/>
                    <a:pt x="7380478" y="8795258"/>
                  </a:cubicBezTo>
                  <a:lnTo>
                    <a:pt x="195580" y="8795258"/>
                  </a:lnTo>
                  <a:cubicBezTo>
                    <a:pt x="87630" y="8795258"/>
                    <a:pt x="0" y="8707755"/>
                    <a:pt x="0" y="859967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252960" y="2468880"/>
            <a:ext cx="5120640" cy="640080"/>
            <a:chOff x="0" y="0"/>
            <a:chExt cx="68275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8275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Matters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52960" y="3291840"/>
            <a:ext cx="5120640" cy="768096"/>
            <a:chOff x="0" y="0"/>
            <a:chExt cx="6827520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Multi-genre buyers have higher total spend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52960" y="4297680"/>
            <a:ext cx="5120640" cy="768096"/>
            <a:chOff x="0" y="0"/>
            <a:chExt cx="682752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receptive to cross-sell recommendations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52960" y="5303520"/>
            <a:ext cx="5120640" cy="768096"/>
            <a:chOff x="0" y="0"/>
            <a:chExt cx="682752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Ideal for bundle offers across genres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52960" y="6309360"/>
            <a:ext cx="5120640" cy="768096"/>
            <a:chOff x="0" y="0"/>
            <a:chExt cx="682752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candidates for loyalty programs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52960" y="7315200"/>
            <a:ext cx="5120640" cy="768096"/>
            <a:chOff x="0" y="0"/>
            <a:chExt cx="6827520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827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customer lifetime value overall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5167" y="9137647"/>
            <a:ext cx="16837657" cy="780793"/>
            <a:chOff x="0" y="0"/>
            <a:chExt cx="22450209" cy="10410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450044" cy="1041019"/>
            </a:xfrm>
            <a:custGeom>
              <a:avLst/>
              <a:gdLst/>
              <a:ahLst/>
              <a:cxnLst/>
              <a:rect r="r" b="b" t="t" l="l"/>
              <a:pathLst>
                <a:path h="1041019" w="22450044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22251797" y="0"/>
                  </a:lnTo>
                  <a:cubicBezTo>
                    <a:pt x="22361271" y="0"/>
                    <a:pt x="22450044" y="88773"/>
                    <a:pt x="22450044" y="198247"/>
                  </a:cubicBezTo>
                  <a:lnTo>
                    <a:pt x="22450044" y="842772"/>
                  </a:lnTo>
                  <a:cubicBezTo>
                    <a:pt x="22450044" y="952246"/>
                    <a:pt x="22361271" y="1041019"/>
                    <a:pt x="22251797" y="1041019"/>
                  </a:cubicBezTo>
                  <a:lnTo>
                    <a:pt x="198247" y="1041019"/>
                  </a:lnTo>
                  <a:cubicBezTo>
                    <a:pt x="88773" y="1041019"/>
                    <a:pt x="0" y="952246"/>
                    <a:pt x="0" y="842772"/>
                  </a:cubicBezTo>
                  <a:close/>
                </a:path>
              </a:pathLst>
            </a:custGeom>
            <a:solidFill>
              <a:srgbClr val="F0FDF4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9290304"/>
            <a:ext cx="16093440" cy="548640"/>
            <a:chOff x="0" y="0"/>
            <a:chExt cx="214579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65F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Insight: Customers buying 5+ genres are Chinook's highest engagement tier. A loyalty program rewarding genre diversity could significantly boost retention and CLV.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47573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12064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Recommendations for Chinook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426464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Based on analysis of sales data, customer behavior, and genre performance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5167" y="2188207"/>
            <a:ext cx="8242297" cy="2353561"/>
            <a:chOff x="0" y="0"/>
            <a:chExt cx="10989729" cy="31380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8969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0989691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377440"/>
            <a:ext cx="914400" cy="731520"/>
            <a:chOff x="0" y="0"/>
            <a:chExt cx="12192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48256" y="2340864"/>
            <a:ext cx="6583680" cy="694944"/>
            <a:chOff x="0" y="0"/>
            <a:chExt cx="877824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Promote Rock, Latin &amp; Metal in USA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48256" y="3072384"/>
            <a:ext cx="6583680" cy="1316736"/>
            <a:chOff x="0" y="0"/>
            <a:chExt cx="8778240" cy="1755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These 3 genres = 69% of USA revenue. New albums in these genres should get the highest advertising priority and budget allocation.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5167" y="4785103"/>
            <a:ext cx="8242297" cy="2353561"/>
            <a:chOff x="0" y="0"/>
            <a:chExt cx="10989729" cy="31380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8969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0989691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4974336"/>
            <a:ext cx="914400" cy="731520"/>
            <a:chOff x="0" y="0"/>
            <a:chExt cx="12192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B82C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48256" y="4937760"/>
            <a:ext cx="6583680" cy="694944"/>
            <a:chOff x="0" y="0"/>
            <a:chExt cx="877824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Re-engage 38 Churned Customers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48256" y="5669280"/>
            <a:ext cx="6583680" cy="1316736"/>
            <a:chOff x="0" y="0"/>
            <a:chExt cx="877824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782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 personalized emails with genre-specific new releases and a limited-time discount. Customers inactive 90–180 days are the most recoverable.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5167" y="7381999"/>
            <a:ext cx="8242297" cy="2353561"/>
            <a:chOff x="0" y="0"/>
            <a:chExt cx="10989729" cy="31380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8969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0989691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05840" y="7571232"/>
            <a:ext cx="914400" cy="731520"/>
            <a:chOff x="0" y="0"/>
            <a:chExt cx="121920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5966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48256" y="7534656"/>
            <a:ext cx="6583680" cy="694944"/>
            <a:chOff x="0" y="0"/>
            <a:chExt cx="877824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a Cross-Genre Recommendation Engine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48256" y="8266176"/>
            <a:ext cx="6583680" cy="1316736"/>
            <a:chOff x="0" y="0"/>
            <a:chExt cx="8778240" cy="17556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Rock and Metal buyers frequently purchase together. A simple 'you might also like' feature based on genre affinity could increase avg basket size by 30–40%.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3407" y="2188207"/>
            <a:ext cx="8242297" cy="2353561"/>
            <a:chOff x="0" y="0"/>
            <a:chExt cx="10989729" cy="313808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8969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0989691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784080" y="2377440"/>
            <a:ext cx="914400" cy="731520"/>
            <a:chOff x="0" y="0"/>
            <a:chExt cx="121920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26496" y="2340864"/>
            <a:ext cx="6583680" cy="694944"/>
            <a:chOff x="0" y="0"/>
            <a:chExt cx="877824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Single-Customer Countries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26496" y="3072384"/>
            <a:ext cx="6583680" cy="1316736"/>
            <a:chOff x="0" y="0"/>
            <a:chExt cx="8778240" cy="17556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782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Argentina, Austria, Australia each have 1 customer who spends well. Focused regional campaigns in these markets could unlock significant new revenue.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03407" y="4785103"/>
            <a:ext cx="8242297" cy="2353561"/>
            <a:chOff x="0" y="0"/>
            <a:chExt cx="10989729" cy="313808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8969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0989691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784080" y="4974336"/>
            <a:ext cx="914400" cy="731520"/>
            <a:chOff x="0" y="0"/>
            <a:chExt cx="121920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59E0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26496" y="4937760"/>
            <a:ext cx="6583680" cy="694944"/>
            <a:chOff x="0" y="0"/>
            <a:chExt cx="877824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Introduce Bundle Pricing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826496" y="5669280"/>
            <a:ext cx="6583680" cy="1316736"/>
            <a:chOff x="0" y="0"/>
            <a:chExt cx="8778240" cy="17556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basket is only 2–3 tracks per order. A 5-track bundle at a small discount could increase per-visit revenue without reducing overall margins.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03407" y="7381999"/>
            <a:ext cx="8242297" cy="2353561"/>
            <a:chOff x="0" y="0"/>
            <a:chExt cx="10989729" cy="313808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8969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0989691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10793603" y="0"/>
                  </a:lnTo>
                  <a:cubicBezTo>
                    <a:pt x="10901935" y="0"/>
                    <a:pt x="10989691" y="87757"/>
                    <a:pt x="10989691" y="196088"/>
                  </a:cubicBezTo>
                  <a:lnTo>
                    <a:pt x="10989691" y="2941955"/>
                  </a:lnTo>
                  <a:cubicBezTo>
                    <a:pt x="10989691" y="3050286"/>
                    <a:pt x="10901935" y="3138043"/>
                    <a:pt x="10793603" y="3138043"/>
                  </a:cubicBezTo>
                  <a:lnTo>
                    <a:pt x="196088" y="3138043"/>
                  </a:lnTo>
                  <a:cubicBezTo>
                    <a:pt x="87757" y="3138043"/>
                    <a:pt x="0" y="3050286"/>
                    <a:pt x="0" y="2941955"/>
                  </a:cubicBezTo>
                  <a:close/>
                </a:path>
              </a:pathLst>
            </a:custGeom>
            <a:solidFill>
              <a:srgbClr val="1E3A5F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784080" y="7571232"/>
            <a:ext cx="914400" cy="731520"/>
            <a:chOff x="0" y="0"/>
            <a:chExt cx="121920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2192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B82C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26496" y="7534656"/>
            <a:ext cx="6583680" cy="694944"/>
            <a:chOff x="0" y="0"/>
            <a:chExt cx="877824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7782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Launch a Loyalty Program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826496" y="8266176"/>
            <a:ext cx="6583680" cy="1316736"/>
            <a:chOff x="0" y="0"/>
            <a:chExt cx="8778240" cy="17556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782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87782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buying 5+ genres have higher CLV. Reward genre diversity with badges, early access to new releases, or small discounts to improve long-term retention.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6388103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875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cubicBezTo>
                    <a:pt x="7596377" y="0"/>
                    <a:pt x="9787509" y="2191004"/>
                    <a:pt x="9787509" y="4893691"/>
                  </a:cubicBezTo>
                  <a:cubicBezTo>
                    <a:pt x="9787509" y="7596377"/>
                    <a:pt x="7596505" y="9787509"/>
                    <a:pt x="4893691" y="9787509"/>
                  </a:cubicBezTo>
                  <a:cubicBezTo>
                    <a:pt x="2190876" y="9787509"/>
                    <a:pt x="0" y="7596505"/>
                    <a:pt x="0" y="4893691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  <a:ln w="2540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617703" y="-1841497"/>
            <a:ext cx="5511803" cy="5511803"/>
            <a:chOff x="0" y="0"/>
            <a:chExt cx="7349071" cy="7349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49109" cy="7349109"/>
            </a:xfrm>
            <a:custGeom>
              <a:avLst/>
              <a:gdLst/>
              <a:ahLst/>
              <a:cxnLst/>
              <a:rect r="r" b="b" t="t" l="l"/>
              <a:pathLst>
                <a:path h="7349109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cubicBezTo>
                    <a:pt x="5703824" y="0"/>
                    <a:pt x="7349109" y="1645158"/>
                    <a:pt x="7349109" y="3674491"/>
                  </a:cubicBezTo>
                  <a:cubicBezTo>
                    <a:pt x="7349109" y="5703824"/>
                    <a:pt x="5703951" y="7349109"/>
                    <a:pt x="3674491" y="7349109"/>
                  </a:cubicBezTo>
                  <a:cubicBezTo>
                    <a:pt x="1645031" y="7349109"/>
                    <a:pt x="0" y="5703951"/>
                    <a:pt x="0" y="3674491"/>
                  </a:cubicBezTo>
                  <a:close/>
                </a:path>
              </a:pathLst>
            </a:custGeom>
            <a:solidFill>
              <a:srgbClr val="2563A8">
                <a:alpha val="3922"/>
              </a:srgbClr>
            </a:solidFill>
            <a:ln w="25400" cap="sq">
              <a:solidFill>
                <a:srgbClr val="2563A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351845" y="914405"/>
            <a:ext cx="12801600" cy="1325496"/>
            <a:chOff x="0" y="0"/>
            <a:chExt cx="17068800" cy="1767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00" cy="1767329"/>
            </a:xfrm>
            <a:custGeom>
              <a:avLst/>
              <a:gdLst/>
              <a:ahLst/>
              <a:cxnLst/>
              <a:rect r="r" b="b" t="t" l="l"/>
              <a:pathLst>
                <a:path h="1767329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767329"/>
                  </a:lnTo>
                  <a:lnTo>
                    <a:pt x="0" y="1767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243" r="0" b="-12612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17068800" cy="1910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9"/>
                </a:lnSpc>
              </a:pPr>
              <a:r>
                <a:rPr lang="en-US" sz="6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8800" y="2468880"/>
            <a:ext cx="14630400" cy="2011680"/>
            <a:chOff x="0" y="0"/>
            <a:chExt cx="19507200" cy="2682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5072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Chinook has a solid but underleveraged</a:t>
              </a:r>
            </a:p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 base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57600" y="4663440"/>
            <a:ext cx="11887200" cy="694944"/>
            <a:chOff x="0" y="0"/>
            <a:chExt cx="158496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Rock dominates USA sales — double down on it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57600" y="5522976"/>
            <a:ext cx="11887200" cy="694944"/>
            <a:chOff x="0" y="0"/>
            <a:chExt cx="158496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64% churn rate signals a need for re-engagement campaigns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57600" y="6382512"/>
            <a:ext cx="11887200" cy="694944"/>
            <a:chOff x="0" y="0"/>
            <a:chExt cx="1584960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Small-basket shopping behavior = opportunity for bundles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57600" y="7242048"/>
            <a:ext cx="11887200" cy="694944"/>
            <a:chOff x="0" y="0"/>
            <a:chExt cx="1584960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Multi-genre customers are the highest-value segment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57600" y="8101584"/>
            <a:ext cx="11887200" cy="694944"/>
            <a:chOff x="0" y="0"/>
            <a:chExt cx="158496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849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— </a:t>
              </a:r>
              <a:r>
                <a:rPr lang="en-US" sz="24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Single-customer countries are untapped growth markets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51247" y="9229087"/>
            <a:ext cx="10985497" cy="12697"/>
            <a:chOff x="0" y="0"/>
            <a:chExt cx="14647329" cy="169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47290" cy="16891"/>
            </a:xfrm>
            <a:custGeom>
              <a:avLst/>
              <a:gdLst/>
              <a:ahLst/>
              <a:cxnLst/>
              <a:rect r="r" b="b" t="t" l="l"/>
              <a:pathLst>
                <a:path h="16891" w="14647290">
                  <a:moveTo>
                    <a:pt x="0" y="0"/>
                  </a:moveTo>
                  <a:lnTo>
                    <a:pt x="146472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6846681" r="0" b="-16846907"/>
              </a:stretch>
            </a:blipFill>
            <a:ln w="12700" cap="sq">
              <a:solidFill>
                <a:srgbClr val="64748B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9299" y="4264978"/>
            <a:ext cx="5689402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DAHNxfElfgQ</dc:identifier>
  <dcterms:modified xsi:type="dcterms:W3CDTF">2011-08-01T06:04:30Z</dcterms:modified>
  <cp:revision>1</cp:revision>
  <dc:title>Chinook PPT</dc:title>
</cp:coreProperties>
</file>